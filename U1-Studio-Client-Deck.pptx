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2F5BC-C4A2-B946-A6A1-057F83DC4636}" type="datetimeFigureOut">
              <a:rPr lang="en-IL" smtClean="0"/>
              <a:t>27/07/2026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B2816-0972-8B4F-BC93-B6C5D111319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2833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B2816-0972-8B4F-BC93-B6C5D1113195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27880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052560" y="1417320"/>
            <a:ext cx="2331720" cy="2331720"/>
          </a:xfrm>
          <a:prstGeom prst="rect">
            <a:avLst/>
          </a:prstGeom>
          <a:solidFill>
            <a:srgbClr val="2C1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1965960"/>
            <a:ext cx="2331720" cy="233172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149840" y="2514600"/>
            <a:ext cx="2331720" cy="2331720"/>
          </a:xfrm>
          <a:prstGeom prst="rect">
            <a:avLst/>
          </a:prstGeom>
          <a:solidFill>
            <a:srgbClr val="A0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1371600"/>
            <a:ext cx="658368" cy="658368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81328"/>
            <a:ext cx="658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7589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200" b="1">
                <a:solidFill>
                  <a:srgbClr val="FFFFFF"/>
                </a:solidFill>
                <a:latin typeface="Segoe UI"/>
              </a:rPr>
              <a:t>U1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56432"/>
            <a:ext cx="7589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>
                <a:solidFill>
                  <a:srgbClr val="C9C0F0"/>
                </a:solidFill>
                <a:latin typeface="Segoe UI"/>
              </a:rPr>
              <a:t>Real accessibility. Delivered, tested and documented.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434840"/>
            <a:ext cx="2377440" cy="41148"/>
          </a:xfrm>
          <a:prstGeom prst="rect">
            <a:avLst/>
          </a:prstGeom>
          <a:solidFill>
            <a:srgbClr val="A0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7589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9C93C4"/>
                </a:solidFill>
                <a:latin typeface="Segoe UI"/>
              </a:rPr>
              <a:t>A production-grade accessibility programme for your website —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9C93C4"/>
                </a:solidFill>
                <a:latin typeface="Segoe UI"/>
              </a:rPr>
              <a:t>built on the User1st engine, evidenced by a signed close-out report.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6080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A70A8"/>
                </a:solidFill>
                <a:latin typeface="Segoe UI"/>
              </a:rPr>
              <a:t>Client Briefing  ·  User1st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1147"/>
                </a:solidFill>
                <a:latin typeface="Segoe UI"/>
              </a:rPr>
              <a:t>What we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566928" cy="566928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76856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671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F1147"/>
                </a:solidFill>
                <a:latin typeface="Segoe UI"/>
              </a:rPr>
              <a:t>The 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8716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A5A6E"/>
                </a:solidFill>
                <a:latin typeface="Segoe UI"/>
              </a:rPr>
              <a:t>Why inaccessible sites cost you money and expose you legally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935224"/>
            <a:ext cx="566928" cy="566928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53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F1147"/>
                </a:solidFill>
                <a:latin typeface="Segoe UI"/>
              </a:rPr>
              <a:t>Why the usual options 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27355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A5A6E"/>
                </a:solidFill>
                <a:latin typeface="Segoe UI"/>
              </a:rPr>
              <a:t>Rebuilds, overlays and manual audits — and where each breaks down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21608"/>
            <a:ext cx="566928" cy="566928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849624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73989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F1147"/>
                </a:solidFill>
                <a:latin typeface="Segoe UI"/>
              </a:rPr>
              <a:t>The U1 Studio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059936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A5A6E"/>
                </a:solidFill>
                <a:latin typeface="Segoe UI"/>
              </a:rPr>
              <a:t>How we deliver real, tested fixes without touching your codebase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507992"/>
            <a:ext cx="566928" cy="566928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636008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5262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F1147"/>
                </a:solidFill>
                <a:latin typeface="Segoe UI"/>
              </a:rPr>
              <a:t>What you receive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8463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A5A6E"/>
                </a:solidFill>
                <a:latin typeface="Segoe UI"/>
              </a:rPr>
              <a:t>The deliverables, the evidence, and the close-out 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294376"/>
            <a:ext cx="566928" cy="566928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422392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312664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F1147"/>
                </a:solidFill>
                <a:latin typeface="Segoe UI"/>
              </a:rPr>
              <a:t>Commercial model &amp; next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632704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A5A6E"/>
                </a:solidFill>
                <a:latin typeface="Segoe UI"/>
              </a:rPr>
              <a:t>Engagement, timeline and how we 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327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U1 Studio</a:t>
            </a:r>
            <a:r>
              <a:rPr sz="1000" b="0">
                <a:solidFill>
                  <a:srgbClr val="8A8A9C"/>
                </a:solidFill>
                <a:latin typeface="Segoe UI"/>
              </a:rPr>
              <a:t>  ·  User1st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1147"/>
                </a:solidFill>
                <a:latin typeface="Segoe UI"/>
              </a:rPr>
              <a:t>An inaccessible website is a business 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A5A6E"/>
                </a:solidFill>
                <a:latin typeface="Segoe UI"/>
              </a:rPr>
              <a:t>It is not only a compliance box. It touches revenue, reputation and legal exposure at the same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261518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50292" cy="2514600"/>
          </a:xfrm>
          <a:prstGeom prst="rect">
            <a:avLst/>
          </a:prstGeom>
          <a:solidFill>
            <a:srgbClr val="C03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78892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1147"/>
                </a:solidFill>
                <a:latin typeface="Segoe UI"/>
              </a:rPr>
              <a:t>Lost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172968"/>
            <a:ext cx="2048256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5A5A6E"/>
                </a:solidFill>
                <a:latin typeface="Segoe UI"/>
              </a:rPr>
              <a:t>Users who cannot complete a form, a checkout or a booking simply leave — and you never see them in your funnel.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39312" y="2514600"/>
            <a:ext cx="261518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39312" y="2514600"/>
            <a:ext cx="50292" cy="25146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0208" y="278892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1147"/>
                </a:solidFill>
                <a:latin typeface="Segoe UI"/>
              </a:rPr>
              <a:t>Legal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3172968"/>
            <a:ext cx="2048256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5A5A6E"/>
                </a:solidFill>
                <a:latin typeface="Segoe UI"/>
              </a:rPr>
              <a:t>Accessibility claims are filed against ordinary commercial sites, not only large enterprises. Defence is expensive even when you win.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5664" y="2514600"/>
            <a:ext cx="261518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55664" y="2514600"/>
            <a:ext cx="50292" cy="251460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278892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1147"/>
                </a:solidFill>
                <a:latin typeface="Segoe UI"/>
              </a:rPr>
              <a:t>Failed procurement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172968"/>
            <a:ext cx="2048256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5A5A6E"/>
                </a:solidFill>
                <a:latin typeface="Segoe UI"/>
              </a:rPr>
              <a:t>Public tenders and enterprise vendor reviews increasingly require documented conformance. No evidence means no shortlist.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2016" y="2514600"/>
            <a:ext cx="261518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72016" y="2514600"/>
            <a:ext cx="50292" cy="2514600"/>
          </a:xfrm>
          <a:prstGeom prst="rect">
            <a:avLst/>
          </a:prstGeom>
          <a:solidFill>
            <a:srgbClr val="1F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82912" y="278892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1147"/>
                </a:solidFill>
                <a:latin typeface="Segoe UI"/>
              </a:rPr>
              <a:t>Reputational damage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2" y="3172968"/>
            <a:ext cx="2048256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5A5A6E"/>
                </a:solidFill>
                <a:latin typeface="Segoe UI"/>
              </a:rPr>
              <a:t>Accessibility failures are visible, quotable and easy to publicise. The story outlives the fix.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27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U1 Studio</a:t>
            </a:r>
            <a:r>
              <a:rPr sz="1000" b="0">
                <a:solidFill>
                  <a:srgbClr val="8A8A9C"/>
                </a:solidFill>
                <a:latin typeface="Segoe UI"/>
              </a:rPr>
              <a:t>  ·  User1st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THE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1147"/>
                </a:solidFill>
                <a:latin typeface="Segoe UI"/>
              </a:rPr>
              <a:t>You are measured against published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A5A6E"/>
                </a:solidFill>
                <a:latin typeface="Segoe UI"/>
              </a:rPr>
              <a:t>These are the frameworks auditors, regulators and enterprise buyers actually cite.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50292" cy="7863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66090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1147"/>
                </a:solidFill>
                <a:latin typeface="Segoe UI"/>
              </a:rPr>
              <a:t>WCAG 2.1 / 2.2, Level 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9748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A5A6E"/>
                </a:solidFill>
                <a:latin typeface="Segoe UI"/>
              </a:rPr>
              <a:t>The international technical baseline. Almost every regulation below points back to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29000"/>
            <a:ext cx="10515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429000"/>
            <a:ext cx="50292" cy="7863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57530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1147"/>
                </a:solidFill>
                <a:latin typeface="Segoe UI"/>
              </a:rPr>
              <a:t>EN 301 549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1188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A5A6E"/>
                </a:solidFill>
                <a:latin typeface="Segoe UI"/>
              </a:rPr>
              <a:t>The European standard for ICT procurement. Required for public-sector supply across the EU.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343400"/>
            <a:ext cx="10515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343400"/>
            <a:ext cx="50292" cy="7863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448970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1147"/>
                </a:solidFill>
                <a:latin typeface="Segoe UI"/>
              </a:rPr>
              <a:t>ADA &amp; Section 508 (US)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2628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A5A6E"/>
                </a:solidFill>
                <a:latin typeface="Segoe UI"/>
              </a:rPr>
              <a:t>The basis for the majority of accessibility litigation and US federal procurement rules.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257800"/>
            <a:ext cx="10515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257800"/>
            <a:ext cx="50292" cy="7863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540410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1147"/>
                </a:solidFill>
                <a:latin typeface="Segoe UI"/>
              </a:rPr>
              <a:t>Israeli Standard 5568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44068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A5A6E"/>
                </a:solidFill>
                <a:latin typeface="Segoe UI"/>
              </a:rPr>
              <a:t>Local obligation for Israeli commercial and public websites, aligned to WCAG AA.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6C4CF1"/>
                </a:solidFill>
                <a:latin typeface="Segoe UI"/>
              </a:rPr>
              <a:t>The common denominator is WCAG AA — and the common failure is that nobody can prove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27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U1 Studio</a:t>
            </a:r>
            <a:r>
              <a:rPr sz="1000" b="0">
                <a:solidFill>
                  <a:srgbClr val="8A8A9C"/>
                </a:solidFill>
                <a:latin typeface="Segoe UI"/>
              </a:rPr>
              <a:t>  ·  User1st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THE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1147"/>
                </a:solidFill>
                <a:latin typeface="Segoe UI"/>
              </a:rPr>
              <a:t>Why the usual options disappoint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34290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3429000" cy="50292"/>
          </a:xfrm>
          <a:prstGeom prst="rect">
            <a:avLst/>
          </a:prstGeom>
          <a:solidFill>
            <a:srgbClr val="C03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0432" y="2514600"/>
            <a:ext cx="27340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1F1147"/>
                </a:solidFill>
                <a:latin typeface="Segoe UI"/>
              </a:rPr>
              <a:t>Rebuild the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063240"/>
            <a:ext cx="273405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5A5A6E"/>
                </a:solidFill>
                <a:latin typeface="Segoe UI"/>
              </a:rPr>
              <a:t>Months of engineering, a frozen roadmap and a large budget — for an outcome your users cannot see. Accessibility loses every prioritisation meeting.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32" y="4709160"/>
            <a:ext cx="2734056" cy="41148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4818888"/>
            <a:ext cx="2734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393B"/>
                </a:solidFill>
                <a:latin typeface="Segoe UI"/>
              </a:rPr>
              <a:t>Too slow, too expensive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7992" y="2148840"/>
            <a:ext cx="34290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07992" y="2148840"/>
            <a:ext cx="3429000" cy="50292"/>
          </a:xfrm>
          <a:prstGeom prst="rect">
            <a:avLst/>
          </a:prstGeom>
          <a:solidFill>
            <a:srgbClr val="C03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55464" y="2514600"/>
            <a:ext cx="27340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1F1147"/>
                </a:solidFill>
                <a:latin typeface="Segoe UI"/>
              </a:rPr>
              <a:t>Install an overlay widget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3063240"/>
            <a:ext cx="273405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5A5A6E"/>
                </a:solidFill>
                <a:latin typeface="Segoe UI"/>
              </a:rPr>
              <a:t>A script that paints over the problem. It does not fix the underlying markup, is widely criticised by the disability community, and has itself been named in claims.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5464" y="4709160"/>
            <a:ext cx="2734056" cy="41148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55464" y="4818888"/>
            <a:ext cx="2734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393B"/>
                </a:solidFill>
                <a:latin typeface="Segoe UI"/>
              </a:rPr>
              <a:t>Does not survive scrutiny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2148840"/>
            <a:ext cx="34290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93024" y="2148840"/>
            <a:ext cx="3429000" cy="50292"/>
          </a:xfrm>
          <a:prstGeom prst="rect">
            <a:avLst/>
          </a:prstGeom>
          <a:solidFill>
            <a:srgbClr val="C03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0496" y="2514600"/>
            <a:ext cx="27340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1F1147"/>
                </a:solidFill>
                <a:latin typeface="Segoe UI"/>
              </a:rPr>
              <a:t>Commission a manual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3063240"/>
            <a:ext cx="273405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5A5A6E"/>
                </a:solidFill>
                <a:latin typeface="Segoe UI"/>
              </a:rPr>
              <a:t>You receive a PDF listing hundreds of defects — and the work of actually fixing them lands back on your development team.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0496" y="4709160"/>
            <a:ext cx="2734056" cy="41148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0496" y="4818888"/>
            <a:ext cx="2734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393B"/>
                </a:solidFill>
                <a:latin typeface="Segoe UI"/>
              </a:rPr>
              <a:t>A problem list, not a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F1147"/>
                </a:solidFill>
                <a:latin typeface="Segoe UI"/>
              </a:rPr>
              <a:t>What is missing is a way to apply genuine fixes quickly — and then prove they 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327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U1 Studio</a:t>
            </a:r>
            <a:r>
              <a:rPr sz="1000" b="0">
                <a:solidFill>
                  <a:srgbClr val="8A8A9C"/>
                </a:solidFill>
                <a:latin typeface="Segoe UI"/>
              </a:rPr>
              <a:t>  ·  User1st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06CFF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U1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>
                <a:solidFill>
                  <a:srgbClr val="C9C0F0"/>
                </a:solidFill>
                <a:latin typeface="Segoe UI"/>
              </a:rPr>
              <a:t>A specialist tool our accessibility engineers use to map your site's real components, apply genuine fixes through the User1st engine, verify them automatically, and hand you documented proof.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2615184" cy="1417320"/>
          </a:xfrm>
          <a:prstGeom prst="rect">
            <a:avLst/>
          </a:prstGeom>
          <a:solidFill>
            <a:srgbClr val="2C1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4114800"/>
            <a:ext cx="2615184" cy="45720"/>
          </a:xfrm>
          <a:prstGeom prst="rect">
            <a:avLst/>
          </a:prstGeom>
          <a:solidFill>
            <a:srgbClr val="A0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20665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No code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73168"/>
            <a:ext cx="20665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C93C4"/>
                </a:solidFill>
                <a:latin typeface="Segoe UI"/>
              </a:rPr>
              <a:t>Nothing is merged into your repository.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39312" y="4114800"/>
            <a:ext cx="2615184" cy="1417320"/>
          </a:xfrm>
          <a:prstGeom prst="rect">
            <a:avLst/>
          </a:prstGeom>
          <a:solidFill>
            <a:srgbClr val="2C1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39312" y="4114800"/>
            <a:ext cx="2615184" cy="45720"/>
          </a:xfrm>
          <a:prstGeom prst="rect">
            <a:avLst/>
          </a:prstGeom>
          <a:solidFill>
            <a:srgbClr val="A0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13632" y="4389120"/>
            <a:ext cx="20665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Real fixes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4773168"/>
            <a:ext cx="20665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C93C4"/>
                </a:solidFill>
                <a:latin typeface="Segoe UI"/>
              </a:rPr>
              <a:t>Correct roles, names, states and keyboard behaviour.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5664" y="4114800"/>
            <a:ext cx="2615184" cy="1417320"/>
          </a:xfrm>
          <a:prstGeom prst="rect">
            <a:avLst/>
          </a:prstGeom>
          <a:solidFill>
            <a:srgbClr val="2C1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55664" y="4114800"/>
            <a:ext cx="2615184" cy="45720"/>
          </a:xfrm>
          <a:prstGeom prst="rect">
            <a:avLst/>
          </a:prstGeom>
          <a:solidFill>
            <a:srgbClr val="A0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9984" y="4389120"/>
            <a:ext cx="20665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4773168"/>
            <a:ext cx="20665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C93C4"/>
                </a:solidFill>
                <a:latin typeface="Segoe UI"/>
              </a:rPr>
              <a:t>Every fix is tested before it is signed off.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2016" y="4114800"/>
            <a:ext cx="2615184" cy="1417320"/>
          </a:xfrm>
          <a:prstGeom prst="rect">
            <a:avLst/>
          </a:prstGeom>
          <a:solidFill>
            <a:srgbClr val="2C1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72016" y="4114800"/>
            <a:ext cx="2615184" cy="45720"/>
          </a:xfrm>
          <a:prstGeom prst="rect">
            <a:avLst/>
          </a:prstGeom>
          <a:solidFill>
            <a:srgbClr val="A0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46336" y="4389120"/>
            <a:ext cx="20665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Documented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46336" y="4773168"/>
            <a:ext cx="20665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C93C4"/>
                </a:solidFill>
                <a:latin typeface="Segoe UI"/>
              </a:rPr>
              <a:t>A close-out report you can hand to legal.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09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7A70A8"/>
                </a:solidFill>
                <a:latin typeface="Segoe UI"/>
              </a:rPr>
              <a:t>U1 Studio</a:t>
            </a:r>
            <a:r>
              <a:rPr sz="1000" b="0">
                <a:solidFill>
                  <a:srgbClr val="7A70A8"/>
                </a:solidFill>
                <a:latin typeface="Segoe UI"/>
              </a:rPr>
              <a:t>  ·  User1st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0936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7A70A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1147"/>
                </a:solidFill>
                <a:latin typeface="Segoe UI"/>
              </a:rPr>
              <a:t>Five steps, from your live site to signed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40280"/>
            <a:ext cx="20482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2048256" cy="50292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0" y="2560320"/>
            <a:ext cx="502920" cy="502920"/>
          </a:xfrm>
          <a:prstGeom prst="rect">
            <a:avLst/>
          </a:prstGeom>
          <a:solidFill>
            <a:srgbClr val="F0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6C4CF1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14996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1147"/>
                </a:solidFill>
                <a:latin typeface="Segoe UI"/>
              </a:rPr>
              <a:t>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149961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We connect the User1st engine to your live site and detect the platform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361188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9C4E4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240280"/>
            <a:ext cx="20482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17520" y="2240280"/>
            <a:ext cx="2048256" cy="50292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2560320"/>
            <a:ext cx="502920" cy="502920"/>
          </a:xfrm>
          <a:prstGeom prst="rect">
            <a:avLst/>
          </a:prstGeom>
          <a:solidFill>
            <a:srgbClr val="F0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2679192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6C4CF1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46120"/>
            <a:ext cx="14996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1147"/>
                </a:solidFill>
                <a:latin typeface="Segoe UI"/>
              </a:rPr>
              <a:t>Configure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703320"/>
            <a:ext cx="149961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Branding, language and site-wide behaviour are set to match your existing design.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361188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9C4E4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2240280"/>
            <a:ext cx="20482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12080" y="2240280"/>
            <a:ext cx="2048256" cy="50292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0" y="2560320"/>
            <a:ext cx="502920" cy="502920"/>
          </a:xfrm>
          <a:prstGeom prst="rect">
            <a:avLst/>
          </a:prstGeom>
          <a:solidFill>
            <a:srgbClr val="F0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0" y="2679192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6C4CF1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246120"/>
            <a:ext cx="14996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1147"/>
                </a:solidFill>
                <a:latin typeface="Segoe UI"/>
              </a:rPr>
              <a:t>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703320"/>
            <a:ext cx="149961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Our engineer points at each real component — menus, dialogs, date pickers, forms — and it is made accessible.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361188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9C4E4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2240280"/>
            <a:ext cx="20482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06640" y="2240280"/>
            <a:ext cx="2048256" cy="50292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80960" y="2560320"/>
            <a:ext cx="502920" cy="502920"/>
          </a:xfrm>
          <a:prstGeom prst="rect">
            <a:avLst/>
          </a:prstGeom>
          <a:solidFill>
            <a:srgbClr val="F0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0" y="2679192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6C4CF1"/>
                </a:solidFill>
                <a:latin typeface="Segoe U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246120"/>
            <a:ext cx="14996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1147"/>
                </a:solidFill>
                <a:latin typeface="Segoe UI"/>
              </a:rPr>
              <a:t>Scan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703320"/>
            <a:ext cx="149961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dirty="0">
                <a:solidFill>
                  <a:srgbClr val="5A5A6E"/>
                </a:solidFill>
                <a:latin typeface="Segoe UI"/>
              </a:rPr>
              <a:t>An automated scan sweeps the page for headings, labels, alt text, landmarks and link quality.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36608" y="361188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9C4E4"/>
                </a:solidFill>
                <a:latin typeface="Segoe U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2240280"/>
            <a:ext cx="20482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01200" y="2240280"/>
            <a:ext cx="2048256" cy="50292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75520" y="2560320"/>
            <a:ext cx="502920" cy="502920"/>
          </a:xfrm>
          <a:prstGeom prst="rect">
            <a:avLst/>
          </a:prstGeom>
          <a:solidFill>
            <a:srgbClr val="F0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75520" y="2679192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6C4CF1"/>
                </a:solidFill>
                <a:latin typeface="Segoe U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3246120"/>
            <a:ext cx="14996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1147"/>
                </a:solidFill>
                <a:latin typeface="Segoe UI"/>
              </a:rPr>
              <a:t>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3703320"/>
            <a:ext cx="149961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Everything is exported into a close-out report and a shareable document.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6C4CF1"/>
                </a:solidFill>
                <a:latin typeface="Segoe UI"/>
              </a:rPr>
              <a:t>Typically days per site — not the months a rebuild demands.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327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U1 Studio</a:t>
            </a:r>
            <a:r>
              <a:rPr sz="1000" b="0">
                <a:solidFill>
                  <a:srgbClr val="8A8A9C"/>
                </a:solidFill>
                <a:latin typeface="Segoe UI"/>
              </a:rPr>
              <a:t>  ·  User1st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1147"/>
                </a:solidFill>
                <a:latin typeface="Segoe UI"/>
              </a:rPr>
              <a:t>What actually gets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A5A6E"/>
                </a:solidFill>
                <a:latin typeface="Segoe UI"/>
              </a:rPr>
              <a:t>These are the components that break real users — and the ones automated tools alone cannot repair.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" y="2706624"/>
            <a:ext cx="182880" cy="182880"/>
          </a:xfrm>
          <a:prstGeom prst="ellipse">
            <a:avLst/>
          </a:prstGeom>
          <a:solidFill>
            <a:srgbClr val="24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26464" y="2670048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Navigation menus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39312" y="2468880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3895344" y="2706624"/>
            <a:ext cx="182880" cy="182880"/>
          </a:xfrm>
          <a:prstGeom prst="ellipse">
            <a:avLst/>
          </a:prstGeom>
          <a:solidFill>
            <a:srgbClr val="24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42816" y="2670048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Dropdowns &amp; listboxes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5664" y="2468880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6711696" y="2706624"/>
            <a:ext cx="182880" cy="182880"/>
          </a:xfrm>
          <a:prstGeom prst="ellipse">
            <a:avLst/>
          </a:prstGeom>
          <a:solidFill>
            <a:srgbClr val="24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59168" y="2670048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Dialogs &amp; pop-ups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72016" y="2468880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28048" y="2706624"/>
            <a:ext cx="182880" cy="182880"/>
          </a:xfrm>
          <a:prstGeom prst="ellipse">
            <a:avLst/>
          </a:prstGeom>
          <a:solidFill>
            <a:srgbClr val="24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0" y="2670048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Date pickers &amp; calendars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10128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8992" y="3547872"/>
            <a:ext cx="182880" cy="182880"/>
          </a:xfrm>
          <a:prstGeom prst="ellipse">
            <a:avLst/>
          </a:prstGeom>
          <a:solidFill>
            <a:srgbClr val="24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26464" y="3511296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Tabs &amp; accordions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39312" y="3310128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3895344" y="3547872"/>
            <a:ext cx="182880" cy="182880"/>
          </a:xfrm>
          <a:prstGeom prst="ellipse">
            <a:avLst/>
          </a:prstGeom>
          <a:solidFill>
            <a:srgbClr val="24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42816" y="3511296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Carousels &amp; sliders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55664" y="3310128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6711696" y="3547872"/>
            <a:ext cx="182880" cy="182880"/>
          </a:xfrm>
          <a:prstGeom prst="ellipse">
            <a:avLst/>
          </a:prstGeom>
          <a:solidFill>
            <a:srgbClr val="24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9168" y="3511296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Forms, labels &amp; errors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72016" y="3310128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9528048" y="3547872"/>
            <a:ext cx="182880" cy="182880"/>
          </a:xfrm>
          <a:prstGeom prst="ellipse">
            <a:avLst/>
          </a:prstGeom>
          <a:solidFill>
            <a:srgbClr val="24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0" y="3511296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Data tables &amp; grids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151376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78992" y="4389120"/>
            <a:ext cx="182880" cy="182880"/>
          </a:xfrm>
          <a:prstGeom prst="ellipse">
            <a:avLst/>
          </a:prstGeom>
          <a:solidFill>
            <a:srgbClr val="24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26464" y="4352544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Custom checkboxes &amp; radios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39312" y="4151376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3895344" y="4389120"/>
            <a:ext cx="182880" cy="182880"/>
          </a:xfrm>
          <a:prstGeom prst="ellipse">
            <a:avLst/>
          </a:prstGeom>
          <a:solidFill>
            <a:srgbClr val="24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42816" y="4352544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Comboboxes &amp; search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55664" y="4151376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6711696" y="4389120"/>
            <a:ext cx="182880" cy="182880"/>
          </a:xfrm>
          <a:prstGeom prst="ellipse">
            <a:avLst/>
          </a:prstGeom>
          <a:solidFill>
            <a:srgbClr val="24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59168" y="4352544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Tooltips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72016" y="4151376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Oval 39"/>
          <p:cNvSpPr/>
          <p:nvPr/>
        </p:nvSpPr>
        <p:spPr>
          <a:xfrm>
            <a:off x="9528048" y="4389120"/>
            <a:ext cx="182880" cy="182880"/>
          </a:xfrm>
          <a:prstGeom prst="ellipse">
            <a:avLst/>
          </a:prstGeom>
          <a:solidFill>
            <a:srgbClr val="24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75520" y="4352544"/>
            <a:ext cx="17922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Segoe UI"/>
              </a:rPr>
              <a:t>Keyboard-only traps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6C4CF1"/>
                </a:solidFill>
                <a:latin typeface="Segoe UI"/>
              </a:rPr>
              <a:t>Each one receives the correct role, an accessible name, live state and full keyboard operation.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327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U1 Studio</a:t>
            </a:r>
            <a:r>
              <a:rPr sz="1000" b="0">
                <a:solidFill>
                  <a:srgbClr val="8A8A9C"/>
                </a:solidFill>
                <a:latin typeface="Segoe UI"/>
              </a:rPr>
              <a:t>  ·  User1st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THE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1147"/>
                </a:solidFill>
                <a:latin typeface="Segoe UI"/>
              </a:rPr>
              <a:t>Your close-out report — the proof you keep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5A5A6E"/>
                </a:solidFill>
                <a:latin typeface="Segoe UI"/>
              </a:rPr>
              <a:t>Accessibility work is invisible by nature. The close-out report is what makes it visible, defensible and reviewable long after the engagement ends.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072384"/>
            <a:ext cx="118872" cy="118872"/>
          </a:xfrm>
          <a:prstGeom prst="ellipse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2144" y="2971800"/>
            <a:ext cx="5522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F1147"/>
                </a:solidFill>
                <a:latin typeface="Segoe UI"/>
              </a:rPr>
              <a:t>Written proof </a:t>
            </a:r>
            <a:r>
              <a:rPr sz="1500" b="0">
                <a:solidFill>
                  <a:srgbClr val="5A5A6E"/>
                </a:solidFill>
                <a:latin typeface="Segoe UI"/>
              </a:rPr>
              <a:t>that your site was treated — not a verbal assurance.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694176"/>
            <a:ext cx="118872" cy="118872"/>
          </a:xfrm>
          <a:prstGeom prst="ellipse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2144" y="3593592"/>
            <a:ext cx="5522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F1147"/>
                </a:solidFill>
                <a:latin typeface="Segoe UI"/>
              </a:rPr>
              <a:t>A dated document </a:t>
            </a:r>
            <a:r>
              <a:rPr sz="1500" b="0">
                <a:solidFill>
                  <a:srgbClr val="5A5A6E"/>
                </a:solidFill>
                <a:latin typeface="Segoe UI"/>
              </a:rPr>
              <a:t>that stands up to a complaint, a claim or an audit.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315968"/>
            <a:ext cx="118872" cy="118872"/>
          </a:xfrm>
          <a:prstGeom prst="ellipse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52144" y="4215384"/>
            <a:ext cx="5522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F1147"/>
                </a:solidFill>
                <a:latin typeface="Segoe UI"/>
              </a:rPr>
              <a:t>A screenshot per fix </a:t>
            </a:r>
            <a:r>
              <a:rPr sz="1500" b="0">
                <a:solidFill>
                  <a:srgbClr val="5A5A6E"/>
                </a:solidFill>
                <a:latin typeface="Segoe UI"/>
              </a:rPr>
              <a:t>so you can see exactly what you paid for.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937760"/>
            <a:ext cx="118872" cy="118872"/>
          </a:xfrm>
          <a:prstGeom prst="ellipse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52144" y="4837176"/>
            <a:ext cx="5522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F1147"/>
                </a:solidFill>
                <a:latin typeface="Segoe UI"/>
              </a:rPr>
              <a:t>Plain language </a:t>
            </a:r>
            <a:r>
              <a:rPr sz="1500" b="0">
                <a:solidFill>
                  <a:srgbClr val="5A5A6E"/>
                </a:solidFill>
                <a:latin typeface="Segoe UI"/>
              </a:rPr>
              <a:t>your legal and management teams can read unaided.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559552"/>
            <a:ext cx="118872" cy="118872"/>
          </a:xfrm>
          <a:prstGeom prst="ellipse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52144" y="5458968"/>
            <a:ext cx="5522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F1147"/>
                </a:solidFill>
                <a:latin typeface="Segoe UI"/>
              </a:rPr>
              <a:t>One file </a:t>
            </a:r>
            <a:r>
              <a:rPr sz="1500" b="0">
                <a:solidFill>
                  <a:srgbClr val="5A5A6E"/>
                </a:solidFill>
                <a:latin typeface="Segoe UI"/>
              </a:rPr>
              <a:t>ready to send to the board, counsel or a regulator.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210312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78040" y="2103120"/>
            <a:ext cx="4160520" cy="822960"/>
          </a:xfrm>
          <a:prstGeom prst="rect">
            <a:avLst/>
          </a:prstGeom>
          <a:solidFill>
            <a:srgbClr val="1F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52360" y="2350008"/>
            <a:ext cx="329184" cy="3291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239572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23317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Accessibility Close-out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260604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C93C4"/>
                </a:solidFill>
                <a:latin typeface="Segoe UI"/>
              </a:rPr>
              <a:t>42 fixes across 8 pages  ·  Generated 27 Jul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3154680"/>
            <a:ext cx="3611880" cy="566928"/>
          </a:xfrm>
          <a:prstGeom prst="rect">
            <a:avLst/>
          </a:prstGeom>
          <a:solidFill>
            <a:srgbClr val="FAFAFD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62088" y="3310128"/>
            <a:ext cx="502920" cy="237744"/>
          </a:xfrm>
          <a:prstGeom prst="rect">
            <a:avLst/>
          </a:prstGeom>
          <a:solidFill>
            <a:srgbClr val="1F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62088" y="333756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Fix #7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47304" y="3310128"/>
            <a:ext cx="777240" cy="23774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47304" y="3337560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MENU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32841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5A6E"/>
                </a:solidFill>
                <a:latin typeface="Segoe UI"/>
              </a:rPr>
              <a:t>Main navigation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14432" y="3246120"/>
            <a:ext cx="640080" cy="384048"/>
          </a:xfrm>
          <a:prstGeom prst="rect">
            <a:avLst/>
          </a:prstGeom>
          <a:solidFill>
            <a:srgbClr val="E9E6F7"/>
          </a:solidFill>
          <a:ln w="12700">
            <a:solidFill>
              <a:srgbClr val="D5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14432" y="3328416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0">
                <a:solidFill>
                  <a:srgbClr val="8A8A9C"/>
                </a:solidFill>
                <a:latin typeface="Segoe UI"/>
              </a:rPr>
              <a:t>screenshot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3867912"/>
            <a:ext cx="3611880" cy="566928"/>
          </a:xfrm>
          <a:prstGeom prst="rect">
            <a:avLst/>
          </a:prstGeom>
          <a:solidFill>
            <a:srgbClr val="FAFAFD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562088" y="4023360"/>
            <a:ext cx="502920" cy="237744"/>
          </a:xfrm>
          <a:prstGeom prst="rect">
            <a:avLst/>
          </a:prstGeom>
          <a:solidFill>
            <a:srgbClr val="1F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62088" y="405079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Fix #12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7304" y="4023360"/>
            <a:ext cx="777240" cy="23774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47304" y="4050792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DIALOG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0416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5A6E"/>
                </a:solidFill>
                <a:latin typeface="Segoe UI"/>
              </a:rPr>
              <a:t>Booking pop-up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14432" y="3959352"/>
            <a:ext cx="640080" cy="384048"/>
          </a:xfrm>
          <a:prstGeom prst="rect">
            <a:avLst/>
          </a:prstGeom>
          <a:solidFill>
            <a:srgbClr val="E9E6F7"/>
          </a:solidFill>
          <a:ln w="12700">
            <a:solidFill>
              <a:srgbClr val="D5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14432" y="404164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0">
                <a:solidFill>
                  <a:srgbClr val="8A8A9C"/>
                </a:solidFill>
                <a:latin typeface="Segoe UI"/>
              </a:rPr>
              <a:t>screenshot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4581144"/>
            <a:ext cx="3611880" cy="566928"/>
          </a:xfrm>
          <a:prstGeom prst="rect">
            <a:avLst/>
          </a:prstGeom>
          <a:solidFill>
            <a:srgbClr val="FAFAFD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62088" y="4736592"/>
            <a:ext cx="502920" cy="237744"/>
          </a:xfrm>
          <a:prstGeom prst="rect">
            <a:avLst/>
          </a:prstGeom>
          <a:solidFill>
            <a:srgbClr val="1F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62088" y="47640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Fix #18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47304" y="4736592"/>
            <a:ext cx="777240" cy="23774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47304" y="4764024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47548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5A6E"/>
                </a:solidFill>
                <a:latin typeface="Segoe UI"/>
              </a:rPr>
              <a:t>Contact form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14432" y="4672584"/>
            <a:ext cx="640080" cy="384048"/>
          </a:xfrm>
          <a:prstGeom prst="rect">
            <a:avLst/>
          </a:prstGeom>
          <a:solidFill>
            <a:srgbClr val="E9E6F7"/>
          </a:solidFill>
          <a:ln w="12700">
            <a:solidFill>
              <a:srgbClr val="D5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14432" y="475488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0">
                <a:solidFill>
                  <a:srgbClr val="8A8A9C"/>
                </a:solidFill>
                <a:latin typeface="Segoe UI"/>
              </a:rPr>
              <a:t>screenshot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60" y="5294376"/>
            <a:ext cx="3611880" cy="566928"/>
          </a:xfrm>
          <a:prstGeom prst="rect">
            <a:avLst/>
          </a:prstGeom>
          <a:solidFill>
            <a:srgbClr val="FAFAFD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562088" y="5449824"/>
            <a:ext cx="502920" cy="237744"/>
          </a:xfrm>
          <a:prstGeom prst="rect">
            <a:avLst/>
          </a:prstGeom>
          <a:solidFill>
            <a:srgbClr val="1F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62088" y="547725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Fix #23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47304" y="5449824"/>
            <a:ext cx="777240" cy="23774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47304" y="5477256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DATEPICKER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546811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A5A6E"/>
                </a:solidFill>
                <a:latin typeface="Segoe UI"/>
              </a:rPr>
              <a:t>Reservation calendar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14432" y="5385816"/>
            <a:ext cx="640080" cy="384048"/>
          </a:xfrm>
          <a:prstGeom prst="rect">
            <a:avLst/>
          </a:prstGeom>
          <a:solidFill>
            <a:srgbClr val="E9E6F7"/>
          </a:solidFill>
          <a:ln w="12700">
            <a:solidFill>
              <a:srgbClr val="D5D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314432" y="546811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0">
                <a:solidFill>
                  <a:srgbClr val="8A8A9C"/>
                </a:solidFill>
                <a:latin typeface="Segoe UI"/>
              </a:rPr>
              <a:t>screenshot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6327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U1 Studio</a:t>
            </a:r>
            <a:r>
              <a:rPr sz="1000" b="0">
                <a:solidFill>
                  <a:srgbClr val="8A8A9C"/>
                </a:solidFill>
                <a:latin typeface="Segoe UI"/>
              </a:rPr>
              <a:t>  ·  User1st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1147"/>
                </a:solidFill>
                <a:latin typeface="Segoe UI"/>
              </a:rPr>
              <a:t>What this means for your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0292" cy="178308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3856" y="242316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1147"/>
                </a:solidFill>
                <a:latin typeface="Segoe UI"/>
              </a:rPr>
              <a:t>Reduced legal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807208"/>
            <a:ext cx="286207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You hold dated, itemised evidence of a professional remediation effort — the difference between a claim you settle and a claim you answer.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7992" y="21488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07992" y="2148840"/>
            <a:ext cx="50292" cy="178308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18888" y="242316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1147"/>
                </a:solidFill>
                <a:latin typeface="Segoe UI"/>
              </a:rPr>
              <a:t>Revenue you were losing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807208"/>
            <a:ext cx="286207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Customers who previously abandoned a form or a checkout can now complete it. Accessibility is conversion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4" y="21488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93024" y="2148840"/>
            <a:ext cx="50292" cy="178308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242316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1147"/>
                </a:solidFill>
                <a:latin typeface="Segoe UI"/>
              </a:rPr>
              <a:t>Procurement 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807208"/>
            <a:ext cx="286207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You can answer the accessibility section of a tender or vendor review with a document instead of a promise.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206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206240"/>
            <a:ext cx="50292" cy="178308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33856" y="448056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1147"/>
                </a:solidFill>
                <a:latin typeface="Segoe UI"/>
              </a:rPr>
              <a:t>Engineering time protected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4864608"/>
            <a:ext cx="286207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Your developers stay on the product roadmap. The remediation runs alongside, not through, your sprint.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7992" y="4206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07992" y="4206240"/>
            <a:ext cx="50292" cy="178308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18888" y="448056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1147"/>
                </a:solidFill>
                <a:latin typeface="Segoe UI"/>
              </a:rPr>
              <a:t>Predictable cost and timeline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4864608"/>
            <a:ext cx="286207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A scoped engagement with a defined deliverable — not an open-ended rebuild.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3024" y="4206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93024" y="4206240"/>
            <a:ext cx="50292" cy="178308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448056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1147"/>
                </a:solidFill>
                <a:latin typeface="Segoe UI"/>
              </a:rPr>
              <a:t>A brand that includes everyone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864608"/>
            <a:ext cx="286207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Accessibility is visible to customers, employees and partners. It signals how you operate.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327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U1 Studio</a:t>
            </a:r>
            <a:r>
              <a:rPr sz="1000" b="0">
                <a:solidFill>
                  <a:srgbClr val="8A8A9C"/>
                </a:solidFill>
                <a:latin typeface="Segoe UI"/>
              </a:rPr>
              <a:t>  ·  User1st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1147"/>
                </a:solidFill>
                <a:latin typeface="Segoe UI"/>
              </a:rPr>
              <a:t>How the options compare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30175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0" y="2194560"/>
            <a:ext cx="1874519" cy="658368"/>
          </a:xfrm>
          <a:prstGeom prst="rect">
            <a:avLst/>
          </a:prstGeom>
          <a:solidFill>
            <a:srgbClr val="1F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0" y="2395728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Overlay widget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4999" y="2194560"/>
            <a:ext cx="1874519" cy="658368"/>
          </a:xfrm>
          <a:prstGeom prst="rect">
            <a:avLst/>
          </a:prstGeom>
          <a:solidFill>
            <a:srgbClr val="1F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14999" y="2395728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Manual audit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18" y="2194560"/>
            <a:ext cx="1874519" cy="658368"/>
          </a:xfrm>
          <a:prstGeom prst="rect">
            <a:avLst/>
          </a:prstGeom>
          <a:solidFill>
            <a:srgbClr val="1F1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18" y="2395728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Full rebuild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37" y="2194560"/>
            <a:ext cx="1874519" cy="658368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64037" y="2395728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U1 Studio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852928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7238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1147"/>
                </a:solidFill>
                <a:latin typeface="Segoe UI"/>
              </a:rPr>
              <a:t>Fixes the real markup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852928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0" y="3072384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C0393B"/>
                </a:solidFill>
                <a:latin typeface="Segoe UI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4999" y="2852928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4999" y="3072384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C0393B"/>
                </a:solidFill>
                <a:latin typeface="Segoe UI"/>
              </a:rPr>
              <a:t>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18" y="2852928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18" y="3072384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37" y="2852928"/>
            <a:ext cx="1874519" cy="658368"/>
          </a:xfrm>
          <a:prstGeom prst="rect">
            <a:avLst/>
          </a:prstGeom>
          <a:solidFill>
            <a:srgbClr val="F0EEFB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4037" y="3072384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511296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" y="37307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1147"/>
                </a:solidFill>
                <a:latin typeface="Segoe UI"/>
              </a:rPr>
              <a:t>Your developers involved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3511296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0" y="3730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C0393B"/>
                </a:solidFill>
                <a:latin typeface="Segoe UI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4999" y="3511296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14999" y="3730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C0393B"/>
                </a:solidFill>
                <a:latin typeface="Segoe UI"/>
              </a:rPr>
              <a:t>Heavily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18" y="3511296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18" y="3730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C0393B"/>
                </a:solidFill>
                <a:latin typeface="Segoe UI"/>
              </a:rPr>
              <a:t>Heavily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37" y="3511296"/>
            <a:ext cx="1874519" cy="658368"/>
          </a:xfrm>
          <a:prstGeom prst="rect">
            <a:avLst/>
          </a:prstGeom>
          <a:solidFill>
            <a:srgbClr val="F0EEFB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64037" y="373075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169664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" y="43891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1147"/>
                </a:solidFill>
                <a:latin typeface="Segoe UI"/>
              </a:rPr>
              <a:t>Time to 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4169664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40480" y="438912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Instant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4999" y="4169664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14999" y="438912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Weeks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18" y="4169664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18" y="438912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Months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64037" y="4169664"/>
            <a:ext cx="1874519" cy="658368"/>
          </a:xfrm>
          <a:prstGeom prst="rect">
            <a:avLst/>
          </a:prstGeom>
          <a:solidFill>
            <a:srgbClr val="F0EEFB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64037" y="438912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Days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4828032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78992" y="504748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1147"/>
                </a:solidFill>
                <a:latin typeface="Segoe UI"/>
              </a:rPr>
              <a:t>Evidence you can present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4828032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40480" y="5047488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C0393B"/>
                </a:solidFill>
                <a:latin typeface="Segoe UI"/>
              </a:rP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4999" y="4828032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14999" y="5047488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Defect list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18" y="4828032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89518" y="5047488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C0393B"/>
                </a:solidFill>
                <a:latin typeface="Segoe UI"/>
              </a:rP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64037" y="4828032"/>
            <a:ext cx="1874519" cy="658368"/>
          </a:xfrm>
          <a:prstGeom prst="rect">
            <a:avLst/>
          </a:prstGeom>
          <a:solidFill>
            <a:srgbClr val="F0EEFB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464037" y="5047488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Close-out report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5486400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78992" y="570585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1147"/>
                </a:solidFill>
                <a:latin typeface="Segoe UI"/>
              </a:rPr>
              <a:t>Survives legal scrutiny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0" y="5486400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840480" y="5705856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C0393B"/>
                </a:solidFill>
                <a:latin typeface="Segoe UI"/>
              </a:rPr>
              <a:t>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14999" y="5486400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714999" y="5705856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Partly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18" y="5486400"/>
            <a:ext cx="187451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89518" y="5705856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Yes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64037" y="5486400"/>
            <a:ext cx="1874519" cy="658368"/>
          </a:xfrm>
          <a:prstGeom prst="rect">
            <a:avLst/>
          </a:prstGeom>
          <a:solidFill>
            <a:srgbClr val="F0EEFB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464037" y="5705856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Yes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6327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U1 Studio</a:t>
            </a:r>
            <a:r>
              <a:rPr sz="1000" b="0">
                <a:solidFill>
                  <a:srgbClr val="8A8A9C"/>
                </a:solidFill>
                <a:latin typeface="Segoe UI"/>
              </a:rPr>
              <a:t>  ·  User1st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1147"/>
                </a:solidFill>
                <a:latin typeface="Segoe UI"/>
              </a:rPr>
              <a:t>A clear, scoped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A5A6E"/>
                </a:solidFill>
                <a:latin typeface="Segoe UI"/>
              </a:rPr>
              <a:t>No open-ended retainer. You know what is being done, by when, and what you receive at the 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2615184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2615184" cy="50292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" y="2834640"/>
            <a:ext cx="1188720" cy="310896"/>
          </a:xfrm>
          <a:prstGeom prst="rect">
            <a:avLst/>
          </a:prstGeom>
          <a:solidFill>
            <a:srgbClr val="F0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C4CF1"/>
                </a:solidFill>
                <a:latin typeface="Segoe U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F1147"/>
                </a:solidFill>
                <a:latin typeface="Segoe UI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206654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We review your site, agree the page scope and priority journeys, and confirm the standard you are being held 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9312" y="2514600"/>
            <a:ext cx="2615184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39312" y="2514600"/>
            <a:ext cx="2615184" cy="50292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13632" y="2834640"/>
            <a:ext cx="1188720" cy="310896"/>
          </a:xfrm>
          <a:prstGeom prst="rect">
            <a:avLst/>
          </a:prstGeom>
          <a:solidFill>
            <a:srgbClr val="F0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13632" y="288036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C4CF1"/>
                </a:solidFill>
                <a:latin typeface="Segoe UI"/>
              </a:rPr>
              <a:t>Week 2–3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2" y="3337560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F1147"/>
                </a:solidFill>
                <a:latin typeface="Segoe UI"/>
              </a:rPr>
              <a:t>Remediation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3794760"/>
            <a:ext cx="206654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Our engineers map and fix the components, page by page, using U1 Studio against your live site.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55664" y="2514600"/>
            <a:ext cx="2615184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55664" y="2514600"/>
            <a:ext cx="2615184" cy="50292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29984" y="2834640"/>
            <a:ext cx="1188720" cy="310896"/>
          </a:xfrm>
          <a:prstGeom prst="rect">
            <a:avLst/>
          </a:prstGeom>
          <a:solidFill>
            <a:srgbClr val="F0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9984" y="288036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C4CF1"/>
                </a:solidFill>
                <a:latin typeface="Segoe UI"/>
              </a:rPr>
              <a:t>Week 3–4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3337560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F1147"/>
                </a:solidFill>
                <a:latin typeface="Segoe UI"/>
              </a:rPr>
              <a:t>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4" y="3794760"/>
            <a:ext cx="206654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Automated checks plus manual screen-reader and keyboard testing on every fix.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72016" y="2514600"/>
            <a:ext cx="2615184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72016" y="2514600"/>
            <a:ext cx="2615184" cy="50292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46336" y="2834640"/>
            <a:ext cx="1188720" cy="310896"/>
          </a:xfrm>
          <a:prstGeom prst="rect">
            <a:avLst/>
          </a:prstGeom>
          <a:solidFill>
            <a:srgbClr val="F0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46336" y="288036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C4CF1"/>
                </a:solidFill>
                <a:latin typeface="Segoe UI"/>
              </a:rPr>
              <a:t>Hand-over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3337560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F1147"/>
                </a:solidFill>
                <a:latin typeface="Segoe UI"/>
              </a:rPr>
              <a:t>Close-out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3794760"/>
            <a:ext cx="206654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You receive the close-out report, the issues report and a walkthrough with your team.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A9C"/>
                </a:solidFill>
                <a:latin typeface="Segoe UI"/>
              </a:rPr>
              <a:t>Indicative timeline for a typical site. Final scope and schedule are confirmed after discovery.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327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U1 Studio</a:t>
            </a:r>
            <a:r>
              <a:rPr sz="1000" b="0">
                <a:solidFill>
                  <a:srgbClr val="8A8A9C"/>
                </a:solidFill>
                <a:latin typeface="Segoe UI"/>
              </a:rPr>
              <a:t>  ·  User1st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6C4CF1"/>
                </a:solidFill>
                <a:latin typeface="Segoe UI"/>
              </a:rPr>
              <a:t>COMMON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1147"/>
                </a:solidFill>
                <a:latin typeface="Segoe UI"/>
              </a:rPr>
              <a:t>What clients usually ask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5257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0292" cy="169164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4688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6C4CF1"/>
                </a:solidFill>
                <a:latin typeface="Segoe UI"/>
              </a:rPr>
              <a:t>Q  </a:t>
            </a:r>
            <a:r>
              <a:rPr sz="1500" b="1">
                <a:solidFill>
                  <a:srgbClr val="1F1147"/>
                </a:solidFill>
                <a:latin typeface="Segoe UI"/>
              </a:rPr>
              <a:t>Will this slow down or break our site?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35808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No. The engine loads asynchronously and the fixes are applied to existing elements. Your design, content and analytics are untouched.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2194560"/>
            <a:ext cx="5257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36792" y="2194560"/>
            <a:ext cx="50292" cy="169164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2" y="24688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6C4CF1"/>
                </a:solidFill>
                <a:latin typeface="Segoe UI"/>
              </a:rPr>
              <a:t>Q  </a:t>
            </a:r>
            <a:r>
              <a:rPr sz="1500" b="1">
                <a:solidFill>
                  <a:srgbClr val="1F1147"/>
                </a:solidFill>
                <a:latin typeface="Segoe UI"/>
              </a:rPr>
              <a:t>Do our developers need to do anything?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3035808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Beyond adding two script references once, no. All mapping and remediation is done by our engineers against your live site.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60520"/>
            <a:ext cx="5257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4160520"/>
            <a:ext cx="50292" cy="169164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4348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6C4CF1"/>
                </a:solidFill>
                <a:latin typeface="Segoe UI"/>
              </a:rPr>
              <a:t>Q  </a:t>
            </a:r>
            <a:r>
              <a:rPr sz="1500" b="1">
                <a:solidFill>
                  <a:srgbClr val="1F1147"/>
                </a:solidFill>
                <a:latin typeface="Segoe UI"/>
              </a:rPr>
              <a:t>What happens when we redesign a page?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001768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Mappings are tied to your components, so most survive routine change. We monitor and re-map as part of ongoing cover.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92" y="4160520"/>
            <a:ext cx="5257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36792" y="4160520"/>
            <a:ext cx="50292" cy="169164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6832" y="44348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6C4CF1"/>
                </a:solidFill>
                <a:latin typeface="Segoe UI"/>
              </a:rPr>
              <a:t>Q  </a:t>
            </a:r>
            <a:r>
              <a:rPr sz="1500" b="1">
                <a:solidFill>
                  <a:srgbClr val="1F1147"/>
                </a:solidFill>
                <a:latin typeface="Segoe UI"/>
              </a:rPr>
              <a:t>Is this just another accessibility overlay?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5001768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5A5A6E"/>
                </a:solidFill>
                <a:latin typeface="Segoe UI"/>
              </a:rPr>
              <a:t>No. Overlays sit on top and simulate accessibility. U1 applies the correct semantics and keyboard behaviour to the real elements.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U1 Studio</a:t>
            </a:r>
            <a:r>
              <a:rPr sz="1000" b="0">
                <a:solidFill>
                  <a:srgbClr val="8A8A9C"/>
                </a:solidFill>
                <a:latin typeface="Segoe UI"/>
              </a:rPr>
              <a:t>  ·  User1st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A8A9C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418320" y="822960"/>
            <a:ext cx="2011680" cy="2011680"/>
          </a:xfrm>
          <a:prstGeom prst="rect">
            <a:avLst/>
          </a:prstGeom>
          <a:solidFill>
            <a:srgbClr val="2C1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0" y="4023360"/>
            <a:ext cx="2011680" cy="201168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06CFF"/>
                </a:solidFill>
                <a:latin typeface="Segoe U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7863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Let's start with your site.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3200400"/>
            <a:ext cx="411480" cy="411480"/>
          </a:xfrm>
          <a:prstGeom prst="ellipse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28269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3264408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C9C0F0"/>
                </a:solidFill>
                <a:latin typeface="Segoe UI"/>
              </a:rPr>
              <a:t>A free scan of your homepage and two key journeys.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886200"/>
            <a:ext cx="411480" cy="411480"/>
          </a:xfrm>
          <a:prstGeom prst="ellipse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96849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3950208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C9C0F0"/>
                </a:solidFill>
                <a:latin typeface="Segoe UI"/>
              </a:rPr>
              <a:t>A short findings call — what is exposed, and what it would take.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572000"/>
            <a:ext cx="411480" cy="411480"/>
          </a:xfrm>
          <a:prstGeom prst="ellipse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65429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649724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C9C0F0"/>
                </a:solidFill>
                <a:latin typeface="Segoe UI"/>
              </a:rPr>
              <a:t>A fixed-scope proposal with timeline and deliverables.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5486400"/>
            <a:ext cx="3291840" cy="27432"/>
          </a:xfrm>
          <a:prstGeom prst="rect">
            <a:avLst/>
          </a:prstGeom>
          <a:solidFill>
            <a:srgbClr val="A0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7150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C93C4"/>
                </a:solidFill>
                <a:latin typeface="Segoe UI"/>
              </a:rPr>
              <a:t>User1st  ·  accessibility, delivered and evidenced.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1477</Words>
  <Application>Microsoft Macintosh PowerPoint</Application>
  <PresentationFormat>Widescreen</PresentationFormat>
  <Paragraphs>239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גל גרציה אביקזר</cp:lastModifiedBy>
  <cp:revision>2</cp:revision>
  <dcterms:created xsi:type="dcterms:W3CDTF">2013-01-27T09:14:16Z</dcterms:created>
  <dcterms:modified xsi:type="dcterms:W3CDTF">2026-07-27T14:44:16Z</dcterms:modified>
  <cp:category/>
</cp:coreProperties>
</file>